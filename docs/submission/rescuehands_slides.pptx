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E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2F5F9"/>
                </a:solidFill>
                <a:latin typeface="Segoe UI"/>
              </a:rPr>
              <a:t>Intel Bimanual VLA Manipulation track · AI Infra Summit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440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5F9"/>
                </a:solidFill>
                <a:latin typeface="Segoe UI"/>
              </a:rPr>
              <a:t>A policy acts even after reality went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F2F5F9"/>
                </a:solidFill>
                <a:latin typeface="Segoe UI"/>
              </a:rPr>
              <a:t>•  Vision-language-action models predict the next move; they do not check the last one.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F2F5F9"/>
                </a:solidFill>
                <a:latin typeface="Segoe UI"/>
              </a:rPr>
              <a:t>•  With two arms, one slip by one hand ruins the other hand's work.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F2F5F9"/>
                </a:solidFill>
                <a:latin typeface="Segoe UI"/>
              </a:rPr>
              <a:t>•  Learned policies drift into states their demonstrations never showed.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F2F5F9"/>
                </a:solidFill>
                <a:latin typeface="Segoe UI"/>
              </a:rPr>
              <a:t>•  So: never trust an action because a model produced it — check the physics, then recover.</a:t>
            </a:r>
          </a:p>
        </p:txBody>
      </p:sp>
      <p:pic>
        <p:nvPicPr>
          <p:cNvPr id="5" name="Picture 4" descr="teacher_drop_recove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28800"/>
            <a:ext cx="4297680" cy="24174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434340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B6C6"/>
                </a:solidFill>
                <a:latin typeface="Segoe UI"/>
              </a:rPr>
              <a:t>A real drop: the gripper is forced open, the fork falls, both arms back off and retry.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440"/>
                </a:solidFill>
                <a:latin typeface="Segoe UI"/>
              </a:rPr>
              <a:t>THE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5F9"/>
                </a:solidFill>
                <a:latin typeface="Segoe UI"/>
              </a:rPr>
              <a:t>Set a dinner place with two SO-101 arms</a:t>
            </a:r>
          </a:p>
        </p:txBody>
      </p:sp>
      <p:pic>
        <p:nvPicPr>
          <p:cNvPr id="4" name="Picture 3" descr="teacher_handoff_clo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486400" cy="3086100"/>
          </a:xfrm>
          <a:prstGeom prst="rect">
            <a:avLst/>
          </a:prstGeom>
        </p:spPr>
      </p:pic>
      <p:pic>
        <p:nvPicPr>
          <p:cNvPr id="5" name="Picture 4" descr="teacher_table_s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5486400" cy="3086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920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2F5F9"/>
                </a:solidFill>
                <a:latin typeface="Segoe UI"/>
              </a:rPr>
              <a:t>•  “Hand the spoon over to the left arm, then place the cup next to the plate.” — the words pick fork or spoon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2F5F9"/>
                </a:solidFill>
                <a:latin typeface="Segoe UI"/>
              </a:rPr>
              <a:t>•  Right arm picks → in-air hand-off → left arm places the utensil → right arm places the cup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2F5F9"/>
                </a:solidFill>
                <a:latin typeface="Segoe UI"/>
              </a:rPr>
              <a:t>•  Every seed changes positions, sizes, mass, friction, lighting and table colour; contact grasps only, no welding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440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5F9"/>
                </a:solidFill>
                <a:latin typeface="Segoe UI"/>
              </a:rPr>
              <a:t>The VLA proposes; physics decides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2057400" cy="1371600"/>
          </a:xfrm>
          <a:prstGeom prst="roundRect">
            <a:avLst/>
          </a:prstGeom>
          <a:solidFill>
            <a:srgbClr val="182436"/>
          </a:solidFill>
          <a:ln>
            <a:solidFill>
              <a:srgbClr val="FFC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2F5F9"/>
                </a:solidFill>
                <a:latin typeface="Segoe UI"/>
              </a:rPr>
              <a:t>Instruction</a:t>
            </a:r>
          </a:p>
          <a:p>
            <a:pPr algn="ctr"/>
            <a:r>
              <a:rPr sz="1200" b="0">
                <a:solidFill>
                  <a:srgbClr val="A9B6C6"/>
                </a:solidFill>
                <a:latin typeface="Segoe UI"/>
              </a:rPr>
              <a:t>3 cameras</a:t>
            </a:r>
          </a:p>
          <a:p>
            <a:pPr algn="ctr"/>
            <a:r>
              <a:rPr sz="1200" b="0">
                <a:solidFill>
                  <a:srgbClr val="A9B6C6"/>
                </a:solidFill>
                <a:latin typeface="Segoe UI"/>
              </a:rPr>
              <a:t>12 joints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2103120"/>
            <a:ext cx="2057400" cy="1371600"/>
          </a:xfrm>
          <a:prstGeom prst="roundRect">
            <a:avLst/>
          </a:prstGeom>
          <a:solidFill>
            <a:srgbClr val="182436"/>
          </a:solidFill>
          <a:ln>
            <a:solidFill>
              <a:srgbClr val="3FC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2F5F9"/>
                </a:solidFill>
                <a:latin typeface="Segoe UI"/>
              </a:rPr>
              <a:t>SmolVLA</a:t>
            </a:r>
          </a:p>
          <a:p>
            <a:pPr algn="ctr"/>
            <a:r>
              <a:rPr sz="1200" b="0">
                <a:solidFill>
                  <a:srgbClr val="A9B6C6"/>
                </a:solidFill>
                <a:latin typeface="Segoe UI"/>
              </a:rPr>
              <a:t>OpenVINO on Intel iGPU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103120"/>
            <a:ext cx="2057400" cy="1371600"/>
          </a:xfrm>
          <a:prstGeom prst="roundRect">
            <a:avLst/>
          </a:prstGeom>
          <a:solidFill>
            <a:srgbClr val="182436"/>
          </a:solidFill>
          <a:ln>
            <a:solidFill>
              <a:srgbClr val="3FC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2F5F9"/>
                </a:solidFill>
                <a:latin typeface="Segoe UI"/>
              </a:rPr>
              <a:t>Action guard</a:t>
            </a:r>
          </a:p>
          <a:p>
            <a:pPr algn="ctr"/>
            <a:r>
              <a:rPr sz="1200" b="0">
                <a:solidFill>
                  <a:srgbClr val="A9B6C6"/>
                </a:solidFill>
                <a:latin typeface="Segoe UI"/>
              </a:rPr>
              <a:t>limits + step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2103120"/>
            <a:ext cx="2057400" cy="1371600"/>
          </a:xfrm>
          <a:prstGeom prst="roundRect">
            <a:avLst/>
          </a:prstGeom>
          <a:solidFill>
            <a:srgbClr val="182436"/>
          </a:solidFill>
          <a:ln>
            <a:solidFill>
              <a:srgbClr val="3FC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2F5F9"/>
                </a:solidFill>
                <a:latin typeface="Segoe UI"/>
              </a:rPr>
              <a:t>MuJoCo physics</a:t>
            </a:r>
          </a:p>
          <a:p>
            <a:pPr algn="ctr"/>
            <a:r>
              <a:rPr sz="1200" b="0">
                <a:solidFill>
                  <a:srgbClr val="A9B6C6"/>
                </a:solidFill>
                <a:latin typeface="Segoe UI"/>
              </a:rPr>
              <a:t>2× SO-101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2103120"/>
            <a:ext cx="2057400" cy="1371600"/>
          </a:xfrm>
          <a:prstGeom prst="roundRect">
            <a:avLst/>
          </a:prstGeom>
          <a:solidFill>
            <a:srgbClr val="182436"/>
          </a:solidFill>
          <a:ln>
            <a:solidFill>
              <a:srgbClr val="E85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2F5F9"/>
                </a:solidFill>
                <a:latin typeface="Segoe UI"/>
              </a:rPr>
              <a:t>Physics auditor</a:t>
            </a:r>
          </a:p>
          <a:p>
            <a:pPr algn="ctr"/>
            <a:r>
              <a:rPr sz="1200" b="0">
                <a:solidFill>
                  <a:srgbClr val="A9B6C6"/>
                </a:solidFill>
                <a:latin typeface="Segoe UI"/>
              </a:rPr>
              <a:t>held? dropped? placed?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40" y="2788920"/>
            <a:ext cx="182880" cy="0"/>
          </a:xfrm>
          <a:prstGeom prst="line">
            <a:avLst/>
          </a:prstGeom>
          <a:ln w="25400">
            <a:solidFill>
              <a:srgbClr val="A9B6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46320" y="2788920"/>
            <a:ext cx="182880" cy="0"/>
          </a:xfrm>
          <a:prstGeom prst="line">
            <a:avLst/>
          </a:prstGeom>
          <a:ln w="25400">
            <a:solidFill>
              <a:srgbClr val="A9B6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86600" y="2788920"/>
            <a:ext cx="182880" cy="0"/>
          </a:xfrm>
          <a:prstGeom prst="line">
            <a:avLst/>
          </a:prstGeom>
          <a:ln w="25400">
            <a:solidFill>
              <a:srgbClr val="A9B6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26880" y="2788920"/>
            <a:ext cx="182879" cy="0"/>
          </a:xfrm>
          <a:prstGeom prst="line">
            <a:avLst/>
          </a:prstGeom>
          <a:ln w="25400">
            <a:solidFill>
              <a:srgbClr val="A9B6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" y="3977639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182436"/>
          </a:solidFill>
          <a:ln>
            <a:solidFill>
              <a:srgbClr val="FFC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873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C440"/>
                </a:solidFill>
                <a:latin typeface="Segoe UI"/>
              </a:rPr>
              <a:t>Policy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32004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2F5F9"/>
                </a:solidFill>
                <a:latin typeface="Segoe UI"/>
              </a:rPr>
              <a:t>Camera images, joint positions and the instruction. Nothing else — no object poses, no contacts.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3977639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182436"/>
          </a:solidFill>
          <a:ln>
            <a:solidFill>
              <a:srgbClr val="E85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40873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5D4F"/>
                </a:solidFill>
                <a:latin typeface="Segoe UI"/>
              </a:rPr>
              <a:t>Supervisor sees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4572000"/>
            <a:ext cx="32004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2F5F9"/>
                </a:solidFill>
                <a:latin typeface="Segoe UI"/>
              </a:rPr>
              <a:t>Simulator ground truth: which jaws hold what, support, zones, arm-to-arm contact. Used only to judge and recover.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977639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182436"/>
          </a:solidFill>
          <a:ln>
            <a:solidFill>
              <a:srgbClr val="3FC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40873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3FC1B0"/>
                </a:solidFill>
                <a:latin typeface="Segoe UI"/>
              </a:rPr>
              <a:t>IK only in the teacher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4572000"/>
            <a:ext cx="32004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2F5F9"/>
                </a:solidFill>
                <a:latin typeface="Segoe UI"/>
              </a:rPr>
              <a:t>A scripted IK teacher makes demonstrations and the baseline. The deployed loop has no IK: SmolVLA outputs the 12 joint targets.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440"/>
                </a:solidFill>
                <a:latin typeface="Segoe UI"/>
              </a:rPr>
              <a:t>LEARNED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5F9"/>
                </a:solidFill>
                <a:latin typeface="Segoe UI"/>
              </a:rPr>
              <a:t>SmolVLA, taught to get back on track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02412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743200"/>
                <a:gridCol w="329184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440"/>
                          </a:solidFill>
                          <a:latin typeface="Segoe UI"/>
                        </a:rPr>
                        <a:t> </a:t>
                      </a:r>
                    </a:p>
                  </a:txBody>
                  <a:tcPr>
                    <a:solidFill>
                      <a:srgbClr val="24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440"/>
                          </a:solidFill>
                          <a:latin typeface="Segoe UI"/>
                        </a:rPr>
                        <a:t>v1</a:t>
                      </a:r>
                    </a:p>
                  </a:txBody>
                  <a:tcPr>
                    <a:solidFill>
                      <a:srgbClr val="24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C440"/>
                          </a:solidFill>
                          <a:latin typeface="Segoe UI"/>
                        </a:rPr>
                        <a:t>v2</a:t>
                      </a:r>
                    </a:p>
                  </a:txBody>
                  <a:tcPr>
                    <a:solidFill>
                      <a:srgbClr val="2434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5F9"/>
                          </a:solidFill>
                          <a:latin typeface="Segoe UI"/>
                        </a:rPr>
                        <a:t>Episodes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5F9"/>
                          </a:solidFill>
                          <a:latin typeface="Segoe UI"/>
                        </a:rPr>
                        <a:t>101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5F9"/>
                          </a:solidFill>
                          <a:latin typeface="Segoe UI"/>
                        </a:rPr>
                        <a:t>569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5F9"/>
                          </a:solidFill>
                          <a:latin typeface="Segoe UI"/>
                        </a:rPr>
                        <a:t>Frames (20 fps)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5F9"/>
                          </a:solidFill>
                          <a:latin typeface="Segoe UI"/>
                        </a:rPr>
                        <a:t>57,173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5F9"/>
                          </a:solidFill>
                          <a:latin typeface="Segoe UI"/>
                        </a:rPr>
                        <a:t>336,729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5F9"/>
                          </a:solidFill>
                          <a:latin typeface="Segoe UI"/>
                        </a:rPr>
                        <a:t>Clean demonstrations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5F9"/>
                          </a:solidFill>
                          <a:latin typeface="Segoe UI"/>
                        </a:rPr>
                        <a:t>101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5F9"/>
                          </a:solidFill>
                          <a:latin typeface="Segoe UI"/>
                        </a:rPr>
                        <a:t>293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5F9"/>
                          </a:solidFill>
                          <a:latin typeface="Segoe UI"/>
                        </a:rPr>
                        <a:t>Messy starts (arms nudged, items moved)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5F9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5F9"/>
                          </a:solidFill>
                          <a:latin typeface="Segoe UI"/>
                        </a:rPr>
                        <a:t>194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5F9"/>
                          </a:solidFill>
                          <a:latin typeface="Segoe UI"/>
                        </a:rPr>
                        <a:t>Real drop → recovery → finish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5F9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5F9"/>
                          </a:solidFill>
                          <a:latin typeface="Segoe UI"/>
                        </a:rPr>
                        <a:t>82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5F9"/>
                          </a:solidFill>
                          <a:latin typeface="Segoe UI"/>
                        </a:rPr>
                        <a:t>Training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5F9"/>
                          </a:solidFill>
                          <a:latin typeface="Segoe UI"/>
                        </a:rPr>
                        <a:t>12,000 steps from SmolVLA base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5F9"/>
                          </a:solidFill>
                          <a:latin typeface="Segoe UI"/>
                        </a:rPr>
                        <a:t>6,000 steps from v1, lr 5e-5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6636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2F5F9"/>
                </a:solidFill>
                <a:latin typeface="Segoe UI"/>
              </a:rPr>
              <a:t>•  Why v2: v1 copied the teacher closely (open-loop error ≈ 0.01 rad) but only 1 of 9 completed live episodes succeeded — live runs reach states the clean demos never showed.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2F5F9"/>
                </a:solidFill>
                <a:latin typeface="Segoe UI"/>
              </a:rPr>
              <a:t>•  Trained on free Kaggle T4 GPUs; camera images rendered on the GPU (229 s → 14 s per episode after an EGL fix).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440"/>
                </a:solidFill>
                <a:latin typeface="Segoe UI"/>
              </a:rPr>
              <a:t>SAFETY &amp;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5F9"/>
                </a:solidFill>
                <a:latin typeface="Segoe UI"/>
              </a:rPr>
              <a:t>Physics decides success — not the policy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657600" cy="4480560"/>
          </a:xfrm>
          <a:prstGeom prst="roundRect">
            <a:avLst>
              <a:gd name="adj" fmla="val 8000"/>
            </a:avLst>
          </a:prstGeom>
          <a:solidFill>
            <a:srgbClr val="182436"/>
          </a:solidFill>
          <a:ln>
            <a:solidFill>
              <a:srgbClr val="E85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4708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5D4F"/>
                </a:solidFill>
                <a:latin typeface="Segoe UI"/>
              </a:rPr>
              <a:t>Supervisor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32918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2F5F9"/>
                </a:solidFill>
                <a:latin typeface="Segoe UI"/>
              </a:rPr>
              <a:t>Drop or stalled grasp → open both hands, return to a safe pose, let the policy re-plan. At most 2 retries. The retreat itself is watched: an item leaving the table ends the episode.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737360"/>
            <a:ext cx="3657600" cy="4480560"/>
          </a:xfrm>
          <a:prstGeom prst="roundRect">
            <a:avLst>
              <a:gd name="adj" fmla="val 8000"/>
            </a:avLst>
          </a:prstGeom>
          <a:solidFill>
            <a:srgbClr val="182436"/>
          </a:solidFill>
          <a:ln>
            <a:solidFill>
              <a:srgbClr val="3FC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8848" y="184708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3FC1B0"/>
                </a:solidFill>
                <a:latin typeface="Segoe UI"/>
              </a:rPr>
              <a:t>Task success (10 steps stable)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2331720"/>
            <a:ext cx="32918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2F5F9"/>
                </a:solidFill>
                <a:latin typeface="Segoe UI"/>
              </a:rPr>
              <a:t>Cup and utensil in their zones, released, supported, cup upright (≤15°), settled, spare utensil untouched, and an ordered IN-AIR hand-off: right alone → both → left alone, with at most 5 steps of contact flicker.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737360"/>
            <a:ext cx="3657600" cy="4480560"/>
          </a:xfrm>
          <a:prstGeom prst="roundRect">
            <a:avLst>
              <a:gd name="adj" fmla="val 8000"/>
            </a:avLst>
          </a:prstGeom>
          <a:solidFill>
            <a:srgbClr val="182436"/>
          </a:solidFill>
          <a:ln>
            <a:solidFill>
              <a:srgbClr val="FFC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184708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C440"/>
                </a:solidFill>
                <a:latin typeface="Segoe UI"/>
              </a:rPr>
              <a:t>Checked, not assumed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2331720"/>
            <a:ext cx="32918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2F5F9"/>
                </a:solidFill>
                <a:latin typeface="Segoe UI"/>
              </a:rPr>
              <a:t>Model contracts pin joint order, cameras, rate and file hashes. Every run writes a manifest (code revision, arguments, versions). An independent audit's findings were reproduced, fixed and re-measured.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440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5F9"/>
                </a:solidFill>
                <a:latin typeface="Segoe UI"/>
              </a:rPr>
              <a:t>Results on 10 randomized seeds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011680"/>
                <a:gridCol w="2011680"/>
                <a:gridCol w="2194560"/>
              </a:tblGrid>
              <a:tr h="4572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C440"/>
                          </a:solidFill>
                          <a:latin typeface="Segoe UI"/>
                        </a:rPr>
                        <a:t>Policy</a:t>
                      </a:r>
                    </a:p>
                  </a:txBody>
                  <a:tcPr>
                    <a:solidFill>
                      <a:srgbClr val="24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C440"/>
                          </a:solidFill>
                          <a:latin typeface="Segoe UI"/>
                        </a:rPr>
                        <a:t>Supervisor</a:t>
                      </a:r>
                    </a:p>
                  </a:txBody>
                  <a:tcPr>
                    <a:solidFill>
                      <a:srgbClr val="24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C440"/>
                          </a:solidFill>
                          <a:latin typeface="Segoe UI"/>
                        </a:rPr>
                        <a:t>Gripper fault</a:t>
                      </a:r>
                    </a:p>
                  </a:txBody>
                  <a:tcPr>
                    <a:solidFill>
                      <a:srgbClr val="24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C440"/>
                          </a:solidFill>
                          <a:latin typeface="Segoe UI"/>
                        </a:rPr>
                        <a:t>Success</a:t>
                      </a:r>
                    </a:p>
                  </a:txBody>
                  <a:tcPr>
                    <a:solidFill>
                      <a:srgbClr val="2434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2F5F9"/>
                          </a:solidFill>
                          <a:latin typeface="Segoe UI"/>
                        </a:rPr>
                        <a:t>Scripted teacher (baseline)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2F5F9"/>
                          </a:solidFill>
                          <a:latin typeface="Segoe UI"/>
                        </a:rPr>
                        <a:t>on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2F5F9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2F5F9"/>
                          </a:solidFill>
                          <a:latin typeface="Segoe UI"/>
                        </a:rPr>
                        <a:t>8/10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2F5F9"/>
                          </a:solidFill>
                          <a:latin typeface="Segoe UI"/>
                        </a:rPr>
                        <a:t>Scripted teacher (baseline)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2F5F9"/>
                          </a:solidFill>
                          <a:latin typeface="Segoe UI"/>
                        </a:rPr>
                        <a:t>off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2F5F9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2F5F9"/>
                          </a:solidFill>
                          <a:latin typeface="Segoe UI"/>
                        </a:rPr>
                        <a:t>2/10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2F5F9"/>
                          </a:solidFill>
                          <a:latin typeface="Segoe UI"/>
                        </a:rPr>
                        <a:t>Scripted teacher (baseline)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2F5F9"/>
                          </a:solidFill>
                          <a:latin typeface="Segoe UI"/>
                        </a:rPr>
                        <a:t>on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2F5F9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2F5F9"/>
                          </a:solidFill>
                          <a:latin typeface="Segoe UI"/>
                        </a:rPr>
                        <a:t>7/10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2F5F9"/>
                          </a:solidFill>
                          <a:latin typeface="Segoe UI"/>
                        </a:rPr>
                        <a:t>SmolVLA v2 · OpenVINO iGPU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2F5F9"/>
                          </a:solidFill>
                          <a:latin typeface="Segoe UI"/>
                        </a:rPr>
                        <a:t>off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2F5F9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9F1C"/>
                          </a:solidFill>
                          <a:latin typeface="Segoe UI"/>
                        </a:rPr>
                        <a:t>⟨y⟩/10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2F5F9"/>
                          </a:solidFill>
                          <a:latin typeface="Segoe UI"/>
                        </a:rPr>
                        <a:t>SmolVLA v2 · OpenVINO iGPU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2F5F9"/>
                          </a:solidFill>
                          <a:latin typeface="Segoe UI"/>
                        </a:rPr>
                        <a:t>on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2F5F9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9F1C"/>
                          </a:solidFill>
                          <a:latin typeface="Segoe UI"/>
                        </a:rPr>
                        <a:t>⟨x⟩/10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2F5F9"/>
                          </a:solidFill>
                          <a:latin typeface="Segoe UI"/>
                        </a:rPr>
                        <a:t>SmolVLA v2 · OpenVINO iGPU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2F5F9"/>
                          </a:solidFill>
                          <a:latin typeface="Segoe UI"/>
                        </a:rPr>
                        <a:t>on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2F5F9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9F1C"/>
                          </a:solidFill>
                          <a:latin typeface="Segoe UI"/>
                        </a:rPr>
                        <a:t>⟨z⟩/10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2120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A9B6C6"/>
                </a:solidFill>
                <a:latin typeface="Segoe UI"/>
              </a:rPr>
              <a:t>The supervisor turns 2/10 into 7/10 for the teacher under a real gripper fault. Every number comes from committed result files with run manifests.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440"/>
                </a:solidFill>
                <a:latin typeface="Segoe UI"/>
              </a:rPr>
              <a:t>INTEL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5F9"/>
                </a:solidFill>
                <a:latin typeface="Segoe UI"/>
              </a:rPr>
              <a:t>Running the policy on an Intel laptop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155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440"/>
                          </a:solidFill>
                          <a:latin typeface="Segoe UI"/>
                        </a:rPr>
                        <a:t>Backend (Intel Core i5-6300U + HD Graphics 520)</a:t>
                      </a:r>
                    </a:p>
                  </a:txBody>
                  <a:tcPr>
                    <a:solidFill>
                      <a:srgbClr val="24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440"/>
                          </a:solidFill>
                          <a:latin typeface="Segoe UI"/>
                        </a:rPr>
                        <a:t>Time per 50-action chunk</a:t>
                      </a:r>
                    </a:p>
                  </a:txBody>
                  <a:tcPr>
                    <a:solidFill>
                      <a:srgbClr val="2434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C440"/>
                          </a:solidFill>
                          <a:latin typeface="Segoe UI"/>
                        </a:rPr>
                        <a:t>Max action diff vs FP32</a:t>
                      </a:r>
                    </a:p>
                  </a:txBody>
                  <a:tcPr>
                    <a:solidFill>
                      <a:srgbClr val="2434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2F5F9"/>
                          </a:solidFill>
                          <a:latin typeface="Segoe UI"/>
                        </a:rPr>
                        <a:t>PyTorch, CPU (baseline)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9F1C"/>
                          </a:solidFill>
                          <a:latin typeface="Segoe UI"/>
                        </a:rPr>
                        <a:t>⟨b⟩ s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9F1C"/>
                          </a:solidFill>
                          <a:latin typeface="Segoe UI"/>
                        </a:rPr>
                        <a:t>⟨d⟩ rad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2F5F9"/>
                          </a:solidFill>
                          <a:latin typeface="Segoe UI"/>
                        </a:rPr>
                        <a:t>OpenVINO FP32, CPU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9F1C"/>
                          </a:solidFill>
                          <a:latin typeface="Segoe UI"/>
                        </a:rPr>
                        <a:t>⟨e⟩ s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2F5F9"/>
                          </a:solidFill>
                          <a:latin typeface="Segoe UI"/>
                        </a:rPr>
                        <a:t>0 (reference)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2F5F9"/>
                          </a:solidFill>
                          <a:latin typeface="Segoe UI"/>
                        </a:rPr>
                        <a:t>OpenVINO FP16, iGPU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9F1C"/>
                          </a:solidFill>
                          <a:latin typeface="Segoe UI"/>
                        </a:rPr>
                        <a:t>⟨a⟩ s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9F1C"/>
                          </a:solidFill>
                          <a:latin typeface="Segoe UI"/>
                        </a:rPr>
                        <a:t>⟨d⟩ rad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2F5F9"/>
                          </a:solidFill>
                          <a:latin typeface="Segoe UI"/>
                        </a:rPr>
                        <a:t>OpenVINO INT8 weights (NNCF)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9F1C"/>
                          </a:solidFill>
                          <a:latin typeface="Segoe UI"/>
                        </a:rPr>
                        <a:t>⟨f⟩ s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9F1C"/>
                          </a:solidFill>
                          <a:latin typeface="Segoe UI"/>
                        </a:rPr>
                        <a:t>⟨g⟩ rad</a:t>
                      </a:r>
                    </a:p>
                  </a:txBody>
                  <a:tcPr>
                    <a:solidFill>
                      <a:srgbClr val="18243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8912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F9F1C"/>
                </a:solidFill>
                <a:latin typeface="Segoe UI"/>
              </a:rPr>
              <a:t>•  iGPU speed-up over PyTorch CPU: ⟨c⟩×, with its accuracy cost reported next to it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2F5F9"/>
                </a:solidFill>
                <a:latin typeface="Segoe UI"/>
              </a:rPr>
              <a:t>•  Exported with Intel Physical AI Studio; organizers allowed non-Core-Ultra Intel hardware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2F5F9"/>
                </a:solidFill>
                <a:latin typeface="Segoe UI"/>
              </a:rPr>
              <a:t>•  Load time and memory are measured inside the same timer for every backend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440"/>
                </a:solidFill>
                <a:latin typeface="Segoe UI"/>
              </a:rPr>
              <a:t>HONEST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5F9"/>
                </a:solidFill>
                <a:latin typeface="Segoe UI"/>
              </a:rPr>
              <a:t>What we claim, and what we do not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182436"/>
          </a:solidFill>
          <a:ln>
            <a:solidFill>
              <a:srgbClr val="E85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470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5D4F"/>
                </a:solidFill>
                <a:latin typeface="Segoe UI"/>
              </a:rPr>
              <a:t>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2F5F9"/>
                </a:solidFill>
                <a:latin typeface="Segoe UI"/>
              </a:rPr>
              <a:t>• Collision checks cover arm-to-arm contact only.
• Randomized item friction does not reach the jaw contacts (measured), so slippery grasps are not tested.
• Simulation pauses during inference: not real-time 20 Hz control.
• Evaluation seeds guided teacher debugging, so they are not a pristine unseen 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182436"/>
          </a:solidFill>
          <a:ln>
            <a:solidFill>
              <a:srgbClr val="3FC1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470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3FC1B0"/>
                </a:solidFill>
                <a:latin typeface="Segoe UI"/>
              </a:rPr>
              <a:t>Reproduce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331720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2F5F9"/>
                </a:solidFill>
                <a:latin typeface="Segoe UI"/>
              </a:rPr>
              <a:t>• Pinned MuJoCo scene and SO-101 asset revision
• Data generation, training, export, evaluation, benchmark scripts
• Public dataset ABDHAM/rescuehands_table_v2 and model ABDHAM/smolvla_rescuehands_v2
• 99 unit and physics tests · per-run manifests · dataset provenance logs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440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5F9"/>
                </a:solidFill>
                <a:latin typeface="Segoe UI"/>
              </a:rPr>
              <a:t>RescueHands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F2F5F9"/>
                </a:solidFill>
                <a:latin typeface="Segoe UI"/>
              </a:rPr>
              <a:t>A VLA should not be trusted just because it produced an action. Check what physically happened — and recover.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C440"/>
                </a:solidFill>
                <a:latin typeface="Segoe UI"/>
              </a:rPr>
              <a:t>github.com/Hamza-Atiq/rescuehandsAI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C440"/>
                </a:solidFill>
                <a:latin typeface="Segoe UI"/>
              </a:rPr>
              <a:t>huggingface.co/ABDHAM/smolvla_rescuehands_v2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C440"/>
                </a:solidFill>
                <a:latin typeface="Segoe UI"/>
              </a:rPr>
              <a:t>huggingface.co/datasets/ABDHAM/rescuehands_table_v2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