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E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2F5F9"/>
                </a:solidFill>
                <a:latin typeface="Segoe UI"/>
              </a:rPr>
              <a:t>Intel Bimanual VLA Manipulation track · AI Infra Summit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A policy acts even after reality went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Vision-language-action models predict the next move; they do not check the last one.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With two arms, one slip by one hand ruins the other hand's work.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Learned policies drift into states their demonstrations never showed.</a:t>
            </a:r>
          </a:p>
          <a:p>
            <a:pPr algn="l">
              <a:spcAft>
                <a:spcPts val="600"/>
              </a:spcAft>
            </a:pPr>
            <a:r>
              <a:rPr sz="2100" b="0">
                <a:solidFill>
                  <a:srgbClr val="F2F5F9"/>
                </a:solidFill>
                <a:latin typeface="Segoe UI"/>
              </a:rPr>
              <a:t>•  So: never trust an action because a model produced it — check the physics, then recover.</a:t>
            </a:r>
          </a:p>
        </p:txBody>
      </p:sp>
      <p:pic>
        <p:nvPicPr>
          <p:cNvPr id="5" name="Picture 4" descr="teacher_drop_recov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28800"/>
            <a:ext cx="4297680" cy="241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434340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B6C6"/>
                </a:solidFill>
                <a:latin typeface="Segoe UI"/>
              </a:rPr>
              <a:t>A real drop: the gripper is forced open, the fork falls, both arms back off and retry.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Set a dinner place with two SO-101 arms</a:t>
            </a:r>
          </a:p>
        </p:txBody>
      </p:sp>
      <p:pic>
        <p:nvPicPr>
          <p:cNvPr id="4" name="Picture 3" descr="teacher_handoff_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486400" cy="3086100"/>
          </a:xfrm>
          <a:prstGeom prst="rect">
            <a:avLst/>
          </a:prstGeom>
        </p:spPr>
      </p:pic>
      <p:pic>
        <p:nvPicPr>
          <p:cNvPr id="5" name="Picture 4" descr="teacher_table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486400" cy="3086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920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“Hand the spoon over to the left arm, then place the cup next to the plate.” — the words pick fork or spoon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Right arm picks → in-air hand-off → left arm places the utensil → right arm places the cup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2F5F9"/>
                </a:solidFill>
                <a:latin typeface="Segoe UI"/>
              </a:rPr>
              <a:t>•  Every seed changes positions, sizes, mass, friction, lighting and table colour; contact grasps only, no welding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The VLA proposes; physics decides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Instruction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3 cameras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12 joints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SmolVLA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OpenVINO on Intel iGPU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Action guard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limits + step size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MuJoCo physics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2× SO-101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03120"/>
            <a:ext cx="2057400" cy="1371600"/>
          </a:xfrm>
          <a:prstGeom prst="roundRect">
            <a:avLst/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2F5F9"/>
                </a:solidFill>
                <a:latin typeface="Segoe UI"/>
              </a:rPr>
              <a:t>Physics auditor</a:t>
            </a:r>
          </a:p>
          <a:p>
            <a:pPr algn="ctr"/>
            <a:r>
              <a:rPr sz="1200" b="0">
                <a:solidFill>
                  <a:srgbClr val="A9B6C6"/>
                </a:solidFill>
                <a:latin typeface="Segoe UI"/>
              </a:rPr>
              <a:t>held? dropped? placed?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4632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86600" y="2788920"/>
            <a:ext cx="182880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26880" y="2788920"/>
            <a:ext cx="182879" cy="0"/>
          </a:xfrm>
          <a:prstGeom prst="line">
            <a:avLst/>
          </a:prstGeom>
          <a:ln w="25400">
            <a:solidFill>
              <a:srgbClr val="A9B6C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C440"/>
                </a:solidFill>
                <a:latin typeface="Segoe UI"/>
              </a:rPr>
              <a:t>Policy sees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Camera images, joint positions and the instruction. Nothing else — no object poses, no contacts.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Supervisor sees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Simulator ground truth: which jaws hold what, support, zones, arm-to-arm contact. Used only to judge and recover.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977639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IK only in the teacher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572000"/>
            <a:ext cx="320040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A scripted IK teacher makes demonstrations and the baseline. The deployed loop has no IK: SmolVLA outputs the 12 joint targets.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LEARNED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SmolVLA, taught to get back on track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0241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329184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v1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C440"/>
                          </a:solidFill>
                          <a:latin typeface="Segoe UI"/>
                        </a:rPr>
                        <a:t>v2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Episodes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101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569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Frames (20 fps)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57,173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336,729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Clean demonstrations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101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293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Messy starts (arms nudged, items moved)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Real drop → recovery → finish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82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Training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12,000 steps from SmolVLA base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F2F5F9"/>
                          </a:solidFill>
                          <a:latin typeface="Segoe UI"/>
                        </a:rPr>
                        <a:t>6,000 steps from v1, lr 5e-5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663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2F5F9"/>
                </a:solidFill>
                <a:latin typeface="Segoe UI"/>
              </a:rPr>
              <a:t>•  Why v2: v1 copied the teacher closely (open-loop error ≈ 0.01 rad) but only 1 of 9 completed live episodes succeeded — live runs reach states the clean demos never showed.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2F5F9"/>
                </a:solidFill>
                <a:latin typeface="Segoe UI"/>
              </a:rPr>
              <a:t>•  Trained on free Kaggle T4 GPUs; camera images rendered on the GPU (229 s → 14 s per episode after an EGL fix).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SAFETY &amp;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Physics decides success — not the policy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Drop or stalled grasp → open both hands, return to a safe pose, let the policy re-plan. At most 2 retries. The retreat itself is watched: an item leaving the table ends the episode.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Task success (10 steps stable)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Cup and utensil in their zones, released, supported, cup upright (≤15°), settled, spare utensil still near its start at the end, and an ordered IN-AIR hand-off: right alone → both → left alone, with at most 5 steps of contact flicker.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73736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FFC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847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C440"/>
                </a:solidFill>
                <a:latin typeface="Segoe UI"/>
              </a:rPr>
              <a:t>Checked, not assumed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331720"/>
            <a:ext cx="32918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Model contracts pin joint order, cameras, rate and file hashes. Every run writes a manifest (code revision, arguments, versions). An independent audit's findings were reproduced, fixed and re-measured.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Results on 10 randomized seeds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011680"/>
                <a:gridCol w="2011680"/>
                <a:gridCol w="219456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Policy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Supervisor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Gripper fault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Success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8/10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2/10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Scripted teacher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7/10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not run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not run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off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running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SmolVLA v2 · OpenVINO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on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2F5F9"/>
                          </a:solidFill>
                          <a:latin typeface="Segoe UI"/>
                        </a:rPr>
                        <a:t>1/10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A9B6C6"/>
                </a:solidFill>
                <a:latin typeface="Segoe UI"/>
              </a:rPr>
              <a:t>Pairs change one thing: same seeds and fault, supervisor on vs off. For the teacher it turns 2/10 into 7/10. Every number comes from committed result files with run manifests.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INTEL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Running the policy on an Intel laptop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Backend (Intel Core i5-6300U + HD Graphics 520)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Time per 50-action chunk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C440"/>
                          </a:solidFill>
                          <a:latin typeface="Segoe UI"/>
                        </a:rPr>
                        <a:t>Max action diff vs FP32</a:t>
                      </a:r>
                    </a:p>
                  </a:txBody>
                  <a:tcPr>
                    <a:solidFill>
                      <a:srgbClr val="2434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PyTorch, CPU (baseline)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≈190 s (v1)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0.004 rad (v1)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FP32, CPU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13.9 s (v1)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0 (reference)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FP16, iGPU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4.53 s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0.004 rad (v1)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OpenVINO INT8 weights (NNCF)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not measured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F2F5F9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1824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8912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 iGPU speed-up over PyTorch CPU: ≈40×, with its accuracy cost reported next to it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 Exported with Intel Physical AI Studio; organizers allowed non-Core-Ultra Intel hardware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 Load time and memory are measured inside the same timer for every backend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What we claim, and what we do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E85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5D4F"/>
                </a:solidFill>
                <a:latin typeface="Segoe UI"/>
              </a:rPr>
              <a:t>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120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Collision checks cover arm-to-arm contact only.
• Randomized item friction does not reach the jaw contacts (measured), so slippery grasps are not tested.
• Simulation pauses during inference: not real-time 20 Hz control.
• Evaluation seeds guided teacher debugging, so they are not a pristine unseen set.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373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182436"/>
          </a:solidFill>
          <a:ln>
            <a:solidFill>
              <a:srgbClr val="3FC1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47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FC1B0"/>
                </a:solidFill>
                <a:latin typeface="Segoe UI"/>
              </a:rPr>
              <a:t>Reproduce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331720"/>
            <a:ext cx="5120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5F9"/>
                </a:solidFill>
                <a:latin typeface="Segoe UI"/>
              </a:rPr>
              <a:t>• Pinned MuJoCo scene and SO-101 asset revision
• Data generation, training, export, evaluation, benchmark scripts
• Public dataset ABDHAM/rescuehands_table_v2 and model ABDHAM/smolvla_rescuehands_v2
• 99 unit and physics tests · per-run manifests · dataset provenance logs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C440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5F9"/>
                </a:solidFill>
                <a:latin typeface="Segoe UI"/>
              </a:rPr>
              <a:t>RescueHands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2F5F9"/>
                </a:solidFill>
                <a:latin typeface="Segoe UI"/>
              </a:rPr>
              <a:t>A VLA should not be trusted just because it produced an action. Check what physically happened — and recover.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github.com/Hamza-Atiq/rescuehandsAI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huggingface.co/ABDHAM/smolvla_rescuehands_v2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C440"/>
                </a:solidFill>
                <a:latin typeface="Segoe UI"/>
              </a:rPr>
              <a:t>huggingface.co/datasets/ABDHAM/rescuehands_table_v2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